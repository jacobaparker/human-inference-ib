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6480175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2" autoAdjust="0"/>
    <p:restoredTop sz="94660"/>
  </p:normalViewPr>
  <p:slideViewPr>
    <p:cSldViewPr snapToGrid="0">
      <p:cViewPr>
        <p:scale>
          <a:sx n="150" d="100"/>
          <a:sy n="150" d="100"/>
        </p:scale>
        <p:origin x="382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CE80-EF07-47B1-B112-C9312492025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CA22C-0728-4651-9CCC-7D335AEF2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4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3110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6220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9330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1244133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414125"/>
            <a:ext cx="5508149" cy="300826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4538401"/>
            <a:ext cx="4860131" cy="2086184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0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2154193"/>
            <a:ext cx="5589151" cy="3594317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5782513"/>
            <a:ext cx="5589151" cy="1890166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1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2300203"/>
            <a:ext cx="2754074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2300203"/>
            <a:ext cx="2754074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1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60043"/>
            <a:ext cx="5589151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2118188"/>
            <a:ext cx="2741417" cy="103809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3156278"/>
            <a:ext cx="2741417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2118188"/>
            <a:ext cx="2754918" cy="103809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3156278"/>
            <a:ext cx="2754918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7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5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4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76051"/>
            <a:ext cx="2090025" cy="201617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1244112"/>
            <a:ext cx="3280589" cy="6140542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592229"/>
            <a:ext cx="2090025" cy="4802425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6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576051"/>
            <a:ext cx="2090025" cy="201617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1244112"/>
            <a:ext cx="3280589" cy="6140542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2592229"/>
            <a:ext cx="2090025" cy="4802425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5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9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460041"/>
            <a:ext cx="1397288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460041"/>
            <a:ext cx="4110861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1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460043"/>
            <a:ext cx="5589151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2300203"/>
            <a:ext cx="5589151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8008709"/>
            <a:ext cx="145803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9B43C-15A2-4BCF-AA28-A5466F64AEB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8008709"/>
            <a:ext cx="218705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8008709"/>
            <a:ext cx="145803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5FF95-D487-4054-86E8-98ACC7F573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287F00D8-93F8-677E-A4B3-92CF2D05A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89" r="2489"/>
          <a:stretch/>
        </p:blipFill>
        <p:spPr>
          <a:xfrm>
            <a:off x="5063843" y="1047467"/>
            <a:ext cx="1448137" cy="1295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C650C8C-06A3-178C-D8CB-444ABF36A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190" y="1047467"/>
            <a:ext cx="1524000" cy="1295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290B83D-9D64-CDF1-A2C5-4B1799375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7680" y="678445"/>
            <a:ext cx="2847975" cy="22558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A0C4AF0-5EFB-BF83-A62B-C3DA4A199B00}"/>
              </a:ext>
            </a:extLst>
          </p:cNvPr>
          <p:cNvSpPr txBox="1"/>
          <p:nvPr/>
        </p:nvSpPr>
        <p:spPr>
          <a:xfrm>
            <a:off x="-49824" y="2780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0B76DE-3E1C-7CD5-78EB-3282AD7C04C6}"/>
              </a:ext>
            </a:extLst>
          </p:cNvPr>
          <p:cNvSpPr txBox="1"/>
          <p:nvPr/>
        </p:nvSpPr>
        <p:spPr>
          <a:xfrm rot="16200000">
            <a:off x="-287035" y="1620087"/>
            <a:ext cx="9108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Probability density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88787-19F6-96EE-4237-EACDA9C89D37}"/>
              </a:ext>
            </a:extLst>
          </p:cNvPr>
          <p:cNvSpPr txBox="1"/>
          <p:nvPr/>
        </p:nvSpPr>
        <p:spPr>
          <a:xfrm>
            <a:off x="678608" y="2824321"/>
            <a:ext cx="18533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r>
              <a:rPr lang="en-US" sz="1050" i="1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: noisy estimate of posterior probability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C9B8B9-5C6F-9F31-6E2E-126928A48B0F}"/>
              </a:ext>
            </a:extLst>
          </p:cNvPr>
          <p:cNvSpPr txBox="1"/>
          <p:nvPr/>
        </p:nvSpPr>
        <p:spPr>
          <a:xfrm>
            <a:off x="3668260" y="2250534"/>
            <a:ext cx="12025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p(y=1|x) : posterior probability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7AFCA-2B84-83BA-DC87-BD1CEF78E105}"/>
              </a:ext>
            </a:extLst>
          </p:cNvPr>
          <p:cNvSpPr txBox="1"/>
          <p:nvPr/>
        </p:nvSpPr>
        <p:spPr>
          <a:xfrm rot="16200000">
            <a:off x="2814693" y="1526969"/>
            <a:ext cx="11128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p(r=1|x) : choice probability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D0C7DB-FE53-CC20-0DA6-D020DEB0C587}"/>
              </a:ext>
            </a:extLst>
          </p:cNvPr>
          <p:cNvSpPr/>
          <p:nvPr/>
        </p:nvSpPr>
        <p:spPr>
          <a:xfrm>
            <a:off x="3022398" y="1497382"/>
            <a:ext cx="264591" cy="24384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27342-96E6-99CA-EEA8-848C23CF26EF}"/>
              </a:ext>
            </a:extLst>
          </p:cNvPr>
          <p:cNvSpPr txBox="1"/>
          <p:nvPr/>
        </p:nvSpPr>
        <p:spPr>
          <a:xfrm>
            <a:off x="443768" y="419058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Noise in estimate of posterior probabilities,</a:t>
            </a:r>
          </a:p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Always choose highest option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7DCA5-745C-6846-7ADA-31B89485CAEA}"/>
              </a:ext>
            </a:extLst>
          </p:cNvPr>
          <p:cNvSpPr txBox="1"/>
          <p:nvPr/>
        </p:nvSpPr>
        <p:spPr>
          <a:xfrm>
            <a:off x="3614547" y="720815"/>
            <a:ext cx="1210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Evidence-based choice noise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FA742-63BA-FA67-58A4-C11C00D1F41A}"/>
              </a:ext>
            </a:extLst>
          </p:cNvPr>
          <p:cNvSpPr txBox="1"/>
          <p:nvPr/>
        </p:nvSpPr>
        <p:spPr>
          <a:xfrm>
            <a:off x="3224242" y="447304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BC7622-B5F0-6FF8-1D20-810920D680D8}"/>
              </a:ext>
            </a:extLst>
          </p:cNvPr>
          <p:cNvSpPr txBox="1"/>
          <p:nvPr/>
        </p:nvSpPr>
        <p:spPr>
          <a:xfrm>
            <a:off x="4875805" y="447304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232C21-684E-7330-6C20-63D715392983}"/>
              </a:ext>
            </a:extLst>
          </p:cNvPr>
          <p:cNvSpPr txBox="1"/>
          <p:nvPr/>
        </p:nvSpPr>
        <p:spPr>
          <a:xfrm rot="16200000">
            <a:off x="4445557" y="1550502"/>
            <a:ext cx="12153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Inference predictiveness (bits)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78803F-0A0D-900A-B611-4A5208C6561C}"/>
              </a:ext>
            </a:extLst>
          </p:cNvPr>
          <p:cNvSpPr txBox="1"/>
          <p:nvPr/>
        </p:nvSpPr>
        <p:spPr>
          <a:xfrm>
            <a:off x="5412255" y="2250534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</a:p>
        </p:txBody>
      </p:sp>
    </p:spTree>
    <p:extLst>
      <p:ext uri="{BB962C8B-B14F-4D97-AF65-F5344CB8AC3E}">
        <p14:creationId xmlns:p14="http://schemas.microsoft.com/office/powerpoint/2010/main" val="98394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618CE7F-581E-1840-8B4A-0DE108ECC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188" y="629253"/>
            <a:ext cx="1809750" cy="13716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5175439-8C4E-6A82-35D0-FC95A28C7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4451" y="610203"/>
            <a:ext cx="1885950" cy="13906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71549B3-CA62-06BA-9CA9-B5C1607AA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7372" y="610203"/>
            <a:ext cx="1943100" cy="1390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EF499E-7243-92EE-CD26-BAF9FA4FB6A7}"/>
              </a:ext>
            </a:extLst>
          </p:cNvPr>
          <p:cNvSpPr txBox="1"/>
          <p:nvPr/>
        </p:nvSpPr>
        <p:spPr>
          <a:xfrm>
            <a:off x="-49824" y="2780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232F09-789A-7A92-238D-94D50286CDA1}"/>
              </a:ext>
            </a:extLst>
          </p:cNvPr>
          <p:cNvSpPr txBox="1"/>
          <p:nvPr/>
        </p:nvSpPr>
        <p:spPr>
          <a:xfrm>
            <a:off x="2093385" y="2780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E3926-2C2F-E586-6E84-511E71C49AE8}"/>
              </a:ext>
            </a:extLst>
          </p:cNvPr>
          <p:cNvSpPr txBox="1"/>
          <p:nvPr/>
        </p:nvSpPr>
        <p:spPr>
          <a:xfrm>
            <a:off x="4159886" y="278007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360B0-A773-A799-8B20-E93F19726AF5}"/>
              </a:ext>
            </a:extLst>
          </p:cNvPr>
          <p:cNvSpPr txBox="1"/>
          <p:nvPr/>
        </p:nvSpPr>
        <p:spPr>
          <a:xfrm rot="16200000">
            <a:off x="-369511" y="1213194"/>
            <a:ext cx="12153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Inference predictiveness (bits)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4BF56-7A0B-64FF-EDC0-245D4D34041D}"/>
              </a:ext>
            </a:extLst>
          </p:cNvPr>
          <p:cNvSpPr txBox="1"/>
          <p:nvPr/>
        </p:nvSpPr>
        <p:spPr>
          <a:xfrm>
            <a:off x="736623" y="1913226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D72F7-CF21-CB6E-647E-2DDEBA985843}"/>
              </a:ext>
            </a:extLst>
          </p:cNvPr>
          <p:cNvSpPr txBox="1"/>
          <p:nvPr/>
        </p:nvSpPr>
        <p:spPr>
          <a:xfrm>
            <a:off x="2821729" y="1913226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E1D9-C2F3-8978-F4FE-47457AEE47C5}"/>
              </a:ext>
            </a:extLst>
          </p:cNvPr>
          <p:cNvSpPr txBox="1"/>
          <p:nvPr/>
        </p:nvSpPr>
        <p:spPr>
          <a:xfrm>
            <a:off x="4864163" y="1913226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59125-239C-2463-3BD0-8F581A9672C5}"/>
              </a:ext>
            </a:extLst>
          </p:cNvPr>
          <p:cNvSpPr txBox="1"/>
          <p:nvPr/>
        </p:nvSpPr>
        <p:spPr>
          <a:xfrm rot="16200000">
            <a:off x="1732218" y="1125569"/>
            <a:ext cx="12153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Inference predictiveness (bits)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6415FD-F50A-5E14-4A96-270F6DC4CD8C}"/>
              </a:ext>
            </a:extLst>
          </p:cNvPr>
          <p:cNvSpPr txBox="1"/>
          <p:nvPr/>
        </p:nvSpPr>
        <p:spPr>
          <a:xfrm rot="16200000">
            <a:off x="3770855" y="1144619"/>
            <a:ext cx="12153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Inference predictiveness (bits)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3BFCAE-86B6-240B-4E77-FD79356C55F6}"/>
              </a:ext>
            </a:extLst>
          </p:cNvPr>
          <p:cNvCxnSpPr>
            <a:cxnSpLocks/>
          </p:cNvCxnSpPr>
          <p:nvPr/>
        </p:nvCxnSpPr>
        <p:spPr>
          <a:xfrm flipV="1">
            <a:off x="1143064" y="1160463"/>
            <a:ext cx="1043877" cy="70773"/>
          </a:xfrm>
          <a:prstGeom prst="straightConnector1">
            <a:avLst/>
          </a:prstGeom>
          <a:ln w="508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1CD47A-BC52-8308-6DD4-902148909BEA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482340" y="1160462"/>
            <a:ext cx="803880" cy="76490"/>
          </a:xfrm>
          <a:prstGeom prst="straightConnector1">
            <a:avLst/>
          </a:prstGeom>
          <a:ln w="508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74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871814-3CF1-CE8C-95E5-13B457EFC877}"/>
              </a:ext>
            </a:extLst>
          </p:cNvPr>
          <p:cNvSpPr txBox="1"/>
          <p:nvPr/>
        </p:nvSpPr>
        <p:spPr>
          <a:xfrm>
            <a:off x="-49824" y="2780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3E034-A07F-CF4D-11D3-31F2BD8CF9BC}"/>
              </a:ext>
            </a:extLst>
          </p:cNvPr>
          <p:cNvSpPr txBox="1"/>
          <p:nvPr/>
        </p:nvSpPr>
        <p:spPr>
          <a:xfrm>
            <a:off x="2093385" y="2780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974DE-5819-CB59-B318-DD2F0DA0471F}"/>
              </a:ext>
            </a:extLst>
          </p:cNvPr>
          <p:cNvSpPr txBox="1"/>
          <p:nvPr/>
        </p:nvSpPr>
        <p:spPr>
          <a:xfrm>
            <a:off x="4159886" y="278007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D922AC-DD32-E219-F6FF-9072B943B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932" y="585485"/>
            <a:ext cx="177165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46FD06-6050-69E2-8E41-A43FA5902DB3}"/>
              </a:ext>
            </a:extLst>
          </p:cNvPr>
          <p:cNvSpPr txBox="1"/>
          <p:nvPr/>
        </p:nvSpPr>
        <p:spPr>
          <a:xfrm rot="16200000">
            <a:off x="-293294" y="1090055"/>
            <a:ext cx="10054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Probability choose state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A197C-0C88-D1F5-EA86-57412E7A1B75}"/>
              </a:ext>
            </a:extLst>
          </p:cNvPr>
          <p:cNvSpPr txBox="1"/>
          <p:nvPr/>
        </p:nvSpPr>
        <p:spPr>
          <a:xfrm>
            <a:off x="621376" y="1864752"/>
            <a:ext cx="11416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Posterior probability of state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49C07-7967-F410-006A-790C1E83EDC5}"/>
              </a:ext>
            </a:extLst>
          </p:cNvPr>
          <p:cNvSpPr txBox="1"/>
          <p:nvPr/>
        </p:nvSpPr>
        <p:spPr>
          <a:xfrm>
            <a:off x="560766" y="446986"/>
            <a:ext cx="1107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Psychometric functions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19F1255-647A-C5EF-EADB-8960E9181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61141" y="585485"/>
            <a:ext cx="1809750" cy="1371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8D91BE-013C-2CAC-3944-CA665F76F386}"/>
              </a:ext>
            </a:extLst>
          </p:cNvPr>
          <p:cNvSpPr txBox="1"/>
          <p:nvPr/>
        </p:nvSpPr>
        <p:spPr>
          <a:xfrm>
            <a:off x="3045407" y="446985"/>
            <a:ext cx="5597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IB curves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A81BCE-342D-20F3-D5B4-F14805B905F2}"/>
              </a:ext>
            </a:extLst>
          </p:cNvPr>
          <p:cNvSpPr txBox="1"/>
          <p:nvPr/>
        </p:nvSpPr>
        <p:spPr>
          <a:xfrm rot="16200000">
            <a:off x="1738210" y="1140856"/>
            <a:ext cx="12153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Inference predictiveness (bits)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1A7FD6-B24A-1987-F794-62A2FA084C41}"/>
              </a:ext>
            </a:extLst>
          </p:cNvPr>
          <p:cNvSpPr txBox="1"/>
          <p:nvPr/>
        </p:nvSpPr>
        <p:spPr>
          <a:xfrm>
            <a:off x="2855811" y="1864752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A364A28-0CA4-BD74-7018-38442EECD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6991" y="585485"/>
            <a:ext cx="1809750" cy="1371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2567CF1-3A87-4DBE-3865-54709F7ABEAC}"/>
              </a:ext>
            </a:extLst>
          </p:cNvPr>
          <p:cNvSpPr txBox="1"/>
          <p:nvPr/>
        </p:nvSpPr>
        <p:spPr>
          <a:xfrm>
            <a:off x="4838045" y="387123"/>
            <a:ext cx="1246261" cy="319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Marginal choice probability vs. information capacity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4E76D2-F52E-A063-F291-11944A21DEED}"/>
              </a:ext>
            </a:extLst>
          </p:cNvPr>
          <p:cNvSpPr txBox="1"/>
          <p:nvPr/>
        </p:nvSpPr>
        <p:spPr>
          <a:xfrm rot="16200000">
            <a:off x="3798404" y="1090055"/>
            <a:ext cx="13163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Marginal probability choose state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3C189-7B20-3DD1-D9C9-EA76FC34224F}"/>
              </a:ext>
            </a:extLst>
          </p:cNvPr>
          <p:cNvSpPr txBox="1"/>
          <p:nvPr/>
        </p:nvSpPr>
        <p:spPr>
          <a:xfrm>
            <a:off x="4927214" y="1864752"/>
            <a:ext cx="106792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32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4DDBBB0F-7FAA-F070-C5A3-6CB5A13BBF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974789" y="6831816"/>
            <a:ext cx="2181225" cy="173355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0A01A8D5-3BE8-570B-23E5-D2E680FDA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2067" y="6831816"/>
            <a:ext cx="2181225" cy="173355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BE8B58E8-86EC-A78C-C010-9031339BD5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68588" y="4640831"/>
            <a:ext cx="2181225" cy="17335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67D95864-8EC0-01F7-1D9E-ED043E6AC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3081" y="4640831"/>
            <a:ext cx="2181225" cy="17335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2C9A36E0-8E7D-E9B0-AFA6-9106650B6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940103" y="2482866"/>
            <a:ext cx="2181225" cy="17335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F62E5BE1-9308-3829-BD50-9541A2CD0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43396" y="2482866"/>
            <a:ext cx="2190750" cy="17335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A65606F-F991-E79E-8101-D42E454BC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924864" y="265446"/>
            <a:ext cx="2181225" cy="1733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BEC421-11E7-1C5C-2E0B-F345F927A037}"/>
              </a:ext>
            </a:extLst>
          </p:cNvPr>
          <p:cNvSpPr txBox="1"/>
          <p:nvPr/>
        </p:nvSpPr>
        <p:spPr>
          <a:xfrm>
            <a:off x="0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36F2C9-715D-D53E-7845-EE65E9DA3C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27730" y="265446"/>
            <a:ext cx="2181225" cy="1733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C8B3C5-866B-B014-3D81-3471BE5C0ACB}"/>
              </a:ext>
            </a:extLst>
          </p:cNvPr>
          <p:cNvSpPr txBox="1"/>
          <p:nvPr/>
        </p:nvSpPr>
        <p:spPr>
          <a:xfrm rot="16200000">
            <a:off x="-170115" y="952897"/>
            <a:ext cx="9476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Fully optimal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10D57-DD7E-EA29-20C8-228F25F4DF6A}"/>
              </a:ext>
            </a:extLst>
          </p:cNvPr>
          <p:cNvSpPr txBox="1"/>
          <p:nvPr/>
        </p:nvSpPr>
        <p:spPr>
          <a:xfrm>
            <a:off x="713806" y="190666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F4DE0-7D2F-2563-ED3B-35EFE5C382A0}"/>
              </a:ext>
            </a:extLst>
          </p:cNvPr>
          <p:cNvSpPr txBox="1"/>
          <p:nvPr/>
        </p:nvSpPr>
        <p:spPr>
          <a:xfrm>
            <a:off x="617626" y="126947"/>
            <a:ext cx="12811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Bead-prediction experiment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6993F-2923-2901-02A1-B84005229E58}"/>
              </a:ext>
            </a:extLst>
          </p:cNvPr>
          <p:cNvSpPr txBox="1"/>
          <p:nvPr/>
        </p:nvSpPr>
        <p:spPr>
          <a:xfrm>
            <a:off x="2583180" y="-50025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B0599-C0D7-E577-30A8-89B2B9BE96AB}"/>
              </a:ext>
            </a:extLst>
          </p:cNvPr>
          <p:cNvSpPr txBox="1"/>
          <p:nvPr/>
        </p:nvSpPr>
        <p:spPr>
          <a:xfrm rot="16200000">
            <a:off x="2453079" y="952897"/>
            <a:ext cx="84830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One-back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E3DBA-70AD-1B32-7805-9F8818DC7C96}"/>
              </a:ext>
            </a:extLst>
          </p:cNvPr>
          <p:cNvSpPr txBox="1"/>
          <p:nvPr/>
        </p:nvSpPr>
        <p:spPr>
          <a:xfrm>
            <a:off x="3335631" y="190666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D11C5-3AAE-1CEF-33B5-6C27D9AE1EDC}"/>
              </a:ext>
            </a:extLst>
          </p:cNvPr>
          <p:cNvSpPr txBox="1"/>
          <p:nvPr/>
        </p:nvSpPr>
        <p:spPr>
          <a:xfrm>
            <a:off x="3262311" y="126947"/>
            <a:ext cx="12811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Bead-prediction experiment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6EDA32-85BE-5BFE-87F7-40E387578A95}"/>
              </a:ext>
            </a:extLst>
          </p:cNvPr>
          <p:cNvSpPr txBox="1"/>
          <p:nvPr/>
        </p:nvSpPr>
        <p:spPr>
          <a:xfrm>
            <a:off x="0" y="214490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4B5B50-21F0-B943-4E6E-994787606455}"/>
              </a:ext>
            </a:extLst>
          </p:cNvPr>
          <p:cNvSpPr txBox="1"/>
          <p:nvPr/>
        </p:nvSpPr>
        <p:spPr>
          <a:xfrm rot="16200000">
            <a:off x="-170115" y="3170317"/>
            <a:ext cx="9476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Fully optimal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0CFCA-FD0E-523D-4841-DBD1C4B07285}"/>
              </a:ext>
            </a:extLst>
          </p:cNvPr>
          <p:cNvSpPr txBox="1"/>
          <p:nvPr/>
        </p:nvSpPr>
        <p:spPr>
          <a:xfrm>
            <a:off x="713806" y="412408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C336D3-29A5-3851-253C-5AAC38F87681}"/>
              </a:ext>
            </a:extLst>
          </p:cNvPr>
          <p:cNvSpPr txBox="1"/>
          <p:nvPr/>
        </p:nvSpPr>
        <p:spPr>
          <a:xfrm>
            <a:off x="544697" y="2344367"/>
            <a:ext cx="1426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low W-S ratio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618EB6-5FEA-EF22-DE86-7FD11ED2A499}"/>
              </a:ext>
            </a:extLst>
          </p:cNvPr>
          <p:cNvSpPr txBox="1"/>
          <p:nvPr/>
        </p:nvSpPr>
        <p:spPr>
          <a:xfrm>
            <a:off x="2583180" y="2167395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91D62E-CDC5-D859-72B1-B19D42B34532}"/>
              </a:ext>
            </a:extLst>
          </p:cNvPr>
          <p:cNvSpPr txBox="1"/>
          <p:nvPr/>
        </p:nvSpPr>
        <p:spPr>
          <a:xfrm rot="16200000">
            <a:off x="2376938" y="3170317"/>
            <a:ext cx="10005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Equal-weights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B28E95-54C6-DAAB-7122-E3E1BB0C8F53}"/>
              </a:ext>
            </a:extLst>
          </p:cNvPr>
          <p:cNvSpPr txBox="1"/>
          <p:nvPr/>
        </p:nvSpPr>
        <p:spPr>
          <a:xfrm>
            <a:off x="3335631" y="412408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4F064-6D42-DBAD-DD79-17908000B4FA}"/>
              </a:ext>
            </a:extLst>
          </p:cNvPr>
          <p:cNvSpPr txBox="1"/>
          <p:nvPr/>
        </p:nvSpPr>
        <p:spPr>
          <a:xfrm>
            <a:off x="3189383" y="2344367"/>
            <a:ext cx="14269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low W-S ratio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3BED5C-E3C5-8513-A85D-183810C1BB4C}"/>
              </a:ext>
            </a:extLst>
          </p:cNvPr>
          <p:cNvSpPr txBox="1"/>
          <p:nvPr/>
        </p:nvSpPr>
        <p:spPr>
          <a:xfrm>
            <a:off x="49824" y="4308750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C9E2ED-10E7-731A-ED1C-0689E8A8C925}"/>
              </a:ext>
            </a:extLst>
          </p:cNvPr>
          <p:cNvSpPr txBox="1"/>
          <p:nvPr/>
        </p:nvSpPr>
        <p:spPr>
          <a:xfrm rot="16200000">
            <a:off x="-120291" y="5334159"/>
            <a:ext cx="9476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Fully optimal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65BD45-00C0-961B-E901-4C94BF0A9A3A}"/>
              </a:ext>
            </a:extLst>
          </p:cNvPr>
          <p:cNvSpPr txBox="1"/>
          <p:nvPr/>
        </p:nvSpPr>
        <p:spPr>
          <a:xfrm>
            <a:off x="763630" y="6266659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748D1A-0C6E-D23E-D1AE-AFAC5374E109}"/>
              </a:ext>
            </a:extLst>
          </p:cNvPr>
          <p:cNvSpPr txBox="1"/>
          <p:nvPr/>
        </p:nvSpPr>
        <p:spPr>
          <a:xfrm>
            <a:off x="414185" y="4508209"/>
            <a:ext cx="17876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intermediate W-S ratio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0AAC46-2629-DDD8-FE23-34E23414EDD5}"/>
              </a:ext>
            </a:extLst>
          </p:cNvPr>
          <p:cNvSpPr txBox="1"/>
          <p:nvPr/>
        </p:nvSpPr>
        <p:spPr>
          <a:xfrm>
            <a:off x="2633004" y="4331237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25C8C1-0586-FA83-80C3-2C00E558382C}"/>
              </a:ext>
            </a:extLst>
          </p:cNvPr>
          <p:cNvSpPr txBox="1"/>
          <p:nvPr/>
        </p:nvSpPr>
        <p:spPr>
          <a:xfrm rot="16200000">
            <a:off x="2426762" y="5334159"/>
            <a:ext cx="10005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Equal-weights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BCCE6A-7184-7850-CB94-6EE1A53406D5}"/>
              </a:ext>
            </a:extLst>
          </p:cNvPr>
          <p:cNvSpPr txBox="1"/>
          <p:nvPr/>
        </p:nvSpPr>
        <p:spPr>
          <a:xfrm>
            <a:off x="3385455" y="6266659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E45103-0506-BEEC-FEBA-C2DB8E7FA949}"/>
              </a:ext>
            </a:extLst>
          </p:cNvPr>
          <p:cNvSpPr txBox="1"/>
          <p:nvPr/>
        </p:nvSpPr>
        <p:spPr>
          <a:xfrm>
            <a:off x="3058870" y="4508209"/>
            <a:ext cx="17876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intermediate W-S ratio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D1473A-146A-5CFC-C50C-0680E7EFF60F}"/>
              </a:ext>
            </a:extLst>
          </p:cNvPr>
          <p:cNvSpPr txBox="1"/>
          <p:nvPr/>
        </p:nvSpPr>
        <p:spPr>
          <a:xfrm>
            <a:off x="49824" y="649385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15338D-3281-D5D0-F67E-2BF1EDB74642}"/>
              </a:ext>
            </a:extLst>
          </p:cNvPr>
          <p:cNvSpPr txBox="1"/>
          <p:nvPr/>
        </p:nvSpPr>
        <p:spPr>
          <a:xfrm rot="16200000">
            <a:off x="-120291" y="7519267"/>
            <a:ext cx="9476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Fully optimal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E228D8-5797-E071-7F46-BA014C8FE489}"/>
              </a:ext>
            </a:extLst>
          </p:cNvPr>
          <p:cNvSpPr txBox="1"/>
          <p:nvPr/>
        </p:nvSpPr>
        <p:spPr>
          <a:xfrm>
            <a:off x="763630" y="847303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0EBA6E-CF59-294B-2E76-F7A7BA329947}"/>
              </a:ext>
            </a:extLst>
          </p:cNvPr>
          <p:cNvSpPr txBox="1"/>
          <p:nvPr/>
        </p:nvSpPr>
        <p:spPr>
          <a:xfrm>
            <a:off x="576888" y="6693317"/>
            <a:ext cx="14622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high W-S ratio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E6B88B-11B6-ED0A-11F7-904B31D9F1C9}"/>
              </a:ext>
            </a:extLst>
          </p:cNvPr>
          <p:cNvSpPr txBox="1"/>
          <p:nvPr/>
        </p:nvSpPr>
        <p:spPr>
          <a:xfrm>
            <a:off x="2633004" y="6516345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226331-D493-A508-2A55-2FCDB712F522}"/>
              </a:ext>
            </a:extLst>
          </p:cNvPr>
          <p:cNvSpPr txBox="1"/>
          <p:nvPr/>
        </p:nvSpPr>
        <p:spPr>
          <a:xfrm rot="16200000">
            <a:off x="2426762" y="7519267"/>
            <a:ext cx="100059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Equal-weights model </a:t>
            </a:r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4E7FAD-0B11-4B59-7601-45E52BA64766}"/>
              </a:ext>
            </a:extLst>
          </p:cNvPr>
          <p:cNvSpPr txBox="1"/>
          <p:nvPr/>
        </p:nvSpPr>
        <p:spPr>
          <a:xfrm>
            <a:off x="3385455" y="8473033"/>
            <a:ext cx="10887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Information capacity (bits) </a:t>
            </a:r>
            <a:endParaRPr lang="en-US" sz="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B51890-B6CD-55AF-3582-FDD4EE0626A0}"/>
              </a:ext>
            </a:extLst>
          </p:cNvPr>
          <p:cNvSpPr txBox="1"/>
          <p:nvPr/>
        </p:nvSpPr>
        <p:spPr>
          <a:xfrm>
            <a:off x="3221571" y="6693317"/>
            <a:ext cx="14622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Horse-prediction, high W-S ratio</a:t>
            </a:r>
            <a:endParaRPr lang="en-US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3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A965307-E4C5-2B11-D24A-84B0D94E6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46122" y="444946"/>
            <a:ext cx="1743075" cy="4486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4D9DF6-2B21-BC6D-8C63-EC648319DCD7}"/>
              </a:ext>
            </a:extLst>
          </p:cNvPr>
          <p:cNvSpPr txBox="1"/>
          <p:nvPr/>
        </p:nvSpPr>
        <p:spPr>
          <a:xfrm>
            <a:off x="0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0B17BE-6C64-C788-EDE3-3F845459A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2223" y="444945"/>
            <a:ext cx="1733550" cy="44862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DD2515A-77AD-D3DD-454B-583C1A61C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32225" y="1280952"/>
            <a:ext cx="2647950" cy="2200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873796-304F-3E1D-9B65-89D62A90948A}"/>
              </a:ext>
            </a:extLst>
          </p:cNvPr>
          <p:cNvSpPr txBox="1"/>
          <p:nvPr/>
        </p:nvSpPr>
        <p:spPr>
          <a:xfrm>
            <a:off x="548978" y="103703"/>
            <a:ext cx="2786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16B2A-2DA8-EE48-8F97-98A8197EFF57}"/>
              </a:ext>
            </a:extLst>
          </p:cNvPr>
          <p:cNvSpPr txBox="1"/>
          <p:nvPr/>
        </p:nvSpPr>
        <p:spPr>
          <a:xfrm>
            <a:off x="404242" y="285681"/>
            <a:ext cx="30759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Simulations with different amounts of marginal choice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6BF6B-B54F-076C-77A6-CC9C355DBC12}"/>
              </a:ext>
            </a:extLst>
          </p:cNvPr>
          <p:cNvSpPr txBox="1"/>
          <p:nvPr/>
        </p:nvSpPr>
        <p:spPr>
          <a:xfrm>
            <a:off x="4248415" y="1065508"/>
            <a:ext cx="21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Participant marginal choice probabilities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92774F-6B0E-6364-BF9E-963AE44DA809}"/>
              </a:ext>
            </a:extLst>
          </p:cNvPr>
          <p:cNvSpPr txBox="1"/>
          <p:nvPr/>
        </p:nvSpPr>
        <p:spPr>
          <a:xfrm>
            <a:off x="3728799" y="896231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5411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930F-D00F-D897-8934-FD91506B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90EB00A-3FE4-9274-1747-D3B3F2E61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0884" y="444946"/>
            <a:ext cx="1733550" cy="4486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D11025-EED6-1848-F29C-95EE87935D48}"/>
              </a:ext>
            </a:extLst>
          </p:cNvPr>
          <p:cNvSpPr txBox="1"/>
          <p:nvPr/>
        </p:nvSpPr>
        <p:spPr>
          <a:xfrm>
            <a:off x="0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C64D4F6-8D72-27C6-EA2A-2FC8716F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2223" y="444945"/>
            <a:ext cx="1733550" cy="44862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07BA08B-9623-ABC8-6187-ACEB5A962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32225" y="1280952"/>
            <a:ext cx="2647950" cy="2200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BE896E-8488-4DF8-2FD4-374C26F7D6EE}"/>
              </a:ext>
            </a:extLst>
          </p:cNvPr>
          <p:cNvSpPr txBox="1"/>
          <p:nvPr/>
        </p:nvSpPr>
        <p:spPr>
          <a:xfrm>
            <a:off x="548978" y="103703"/>
            <a:ext cx="2786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Horse prediction, low W-S ratio (1.3:1)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21102-C94C-2E94-F873-10EA22C00B6F}"/>
              </a:ext>
            </a:extLst>
          </p:cNvPr>
          <p:cNvSpPr txBox="1"/>
          <p:nvPr/>
        </p:nvSpPr>
        <p:spPr>
          <a:xfrm>
            <a:off x="404242" y="285681"/>
            <a:ext cx="30759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Simulations with different amounts of marginal choice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19BDE-6B2A-6451-0211-7AAABAB485EC}"/>
              </a:ext>
            </a:extLst>
          </p:cNvPr>
          <p:cNvSpPr txBox="1"/>
          <p:nvPr/>
        </p:nvSpPr>
        <p:spPr>
          <a:xfrm>
            <a:off x="4248415" y="1065508"/>
            <a:ext cx="21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Participant marginal choice probabilities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E97F8-AE36-8B3A-44B7-DC680BA0757B}"/>
              </a:ext>
            </a:extLst>
          </p:cNvPr>
          <p:cNvSpPr txBox="1"/>
          <p:nvPr/>
        </p:nvSpPr>
        <p:spPr>
          <a:xfrm>
            <a:off x="3728799" y="896231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0828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06E5-D36D-8E43-35B2-5758E155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22AA4-9BED-9584-5FA9-EC722C519C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0884" y="457204"/>
            <a:ext cx="1733549" cy="44617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2EA971-8BCB-6491-F198-823976BD33DB}"/>
              </a:ext>
            </a:extLst>
          </p:cNvPr>
          <p:cNvSpPr txBox="1"/>
          <p:nvPr/>
        </p:nvSpPr>
        <p:spPr>
          <a:xfrm>
            <a:off x="0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C522AC-00A5-A4AB-CDEC-E6396CCCF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2223" y="457203"/>
            <a:ext cx="1733549" cy="446175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DDFF2E6-B7DE-8B33-37F3-EE6073609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36987" y="841924"/>
            <a:ext cx="2647950" cy="2200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2F4A36-EF45-9C7E-18D8-85C1F8E32170}"/>
              </a:ext>
            </a:extLst>
          </p:cNvPr>
          <p:cNvSpPr txBox="1"/>
          <p:nvPr/>
        </p:nvSpPr>
        <p:spPr>
          <a:xfrm>
            <a:off x="352311" y="103703"/>
            <a:ext cx="3179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9EA7DB-2455-4296-D2A4-7DBE645EBA2E}"/>
              </a:ext>
            </a:extLst>
          </p:cNvPr>
          <p:cNvSpPr txBox="1"/>
          <p:nvPr/>
        </p:nvSpPr>
        <p:spPr>
          <a:xfrm>
            <a:off x="404242" y="285681"/>
            <a:ext cx="30759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Simulations with different amounts of marginal choice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635DF8-4384-5E3E-2C76-27E3EE5BE522}"/>
              </a:ext>
            </a:extLst>
          </p:cNvPr>
          <p:cNvSpPr txBox="1"/>
          <p:nvPr/>
        </p:nvSpPr>
        <p:spPr>
          <a:xfrm>
            <a:off x="4253177" y="626480"/>
            <a:ext cx="21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Participant marginal choice probabilities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6204A-509F-4ABC-FBEB-19881D19570F}"/>
              </a:ext>
            </a:extLst>
          </p:cNvPr>
          <p:cNvSpPr txBox="1"/>
          <p:nvPr/>
        </p:nvSpPr>
        <p:spPr>
          <a:xfrm>
            <a:off x="3733561" y="457203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72E5B83-5E4C-C89A-8BB3-8F86EEEA8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36987" y="3728337"/>
            <a:ext cx="2600325" cy="1190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1E8F62-348F-6F30-F668-6932FD2436CB}"/>
              </a:ext>
            </a:extLst>
          </p:cNvPr>
          <p:cNvSpPr txBox="1"/>
          <p:nvPr/>
        </p:nvSpPr>
        <p:spPr>
          <a:xfrm>
            <a:off x="4220960" y="3398730"/>
            <a:ext cx="21812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with unusually high bias (red X above)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7BFFD-4F78-BBD7-26FE-D9A801FF48EE}"/>
              </a:ext>
            </a:extLst>
          </p:cNvPr>
          <p:cNvSpPr txBox="1"/>
          <p:nvPr/>
        </p:nvSpPr>
        <p:spPr>
          <a:xfrm>
            <a:off x="4187392" y="3598786"/>
            <a:ext cx="9497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Position in IB 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94D77-B508-874A-4338-A7EBFE29B397}"/>
              </a:ext>
            </a:extLst>
          </p:cNvPr>
          <p:cNvSpPr txBox="1"/>
          <p:nvPr/>
        </p:nvSpPr>
        <p:spPr>
          <a:xfrm>
            <a:off x="5487554" y="3598785"/>
            <a:ext cx="9497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Psychometric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B3459-55FB-9390-FA79-A0DC5E207A1C}"/>
              </a:ext>
            </a:extLst>
          </p:cNvPr>
          <p:cNvSpPr txBox="1"/>
          <p:nvPr/>
        </p:nvSpPr>
        <p:spPr>
          <a:xfrm>
            <a:off x="3733561" y="322175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0C4786-1B4E-485F-9209-3013E20022FA}"/>
              </a:ext>
            </a:extLst>
          </p:cNvPr>
          <p:cNvSpPr txBox="1"/>
          <p:nvPr/>
        </p:nvSpPr>
        <p:spPr>
          <a:xfrm>
            <a:off x="6345958" y="4707083"/>
            <a:ext cx="20550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37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D4C3-D3C8-6F01-4FB3-0B324C31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DD6C9DE-8881-5BE6-1D9D-579DD748C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0884" y="444946"/>
            <a:ext cx="1733550" cy="4486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A18557-275D-41A5-E50B-3274EE428FFC}"/>
              </a:ext>
            </a:extLst>
          </p:cNvPr>
          <p:cNvSpPr txBox="1"/>
          <p:nvPr/>
        </p:nvSpPr>
        <p:spPr>
          <a:xfrm>
            <a:off x="0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AF4B818-8482-EEDC-B244-F83FA56EE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2223" y="444945"/>
            <a:ext cx="1733550" cy="4486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CC340F-8C2E-AF51-C778-499993CB4AB9}"/>
              </a:ext>
            </a:extLst>
          </p:cNvPr>
          <p:cNvSpPr txBox="1"/>
          <p:nvPr/>
        </p:nvSpPr>
        <p:spPr>
          <a:xfrm>
            <a:off x="548978" y="103703"/>
            <a:ext cx="2786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Horse prediction, high W-S ratio (6.3:1)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69102-ABD2-3423-ABDD-23D108D62193}"/>
              </a:ext>
            </a:extLst>
          </p:cNvPr>
          <p:cNvSpPr txBox="1"/>
          <p:nvPr/>
        </p:nvSpPr>
        <p:spPr>
          <a:xfrm>
            <a:off x="404242" y="285681"/>
            <a:ext cx="30759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Simulations with different amounts of marginal choice bias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CFDC0C-A347-C16C-7F4C-8BE9144A6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36987" y="841924"/>
            <a:ext cx="2647950" cy="2200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3F2D46-8A9F-2BAC-E454-579609C380B3}"/>
              </a:ext>
            </a:extLst>
          </p:cNvPr>
          <p:cNvSpPr txBox="1"/>
          <p:nvPr/>
        </p:nvSpPr>
        <p:spPr>
          <a:xfrm>
            <a:off x="4253177" y="626480"/>
            <a:ext cx="2116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Participant marginal choice probabilities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0EF0F-EC32-EAE1-A4AE-A73889877B1F}"/>
              </a:ext>
            </a:extLst>
          </p:cNvPr>
          <p:cNvSpPr txBox="1"/>
          <p:nvPr/>
        </p:nvSpPr>
        <p:spPr>
          <a:xfrm>
            <a:off x="3733561" y="457203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F4E34D9-8BF0-B492-42E8-E3D945FE07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36988" y="3736934"/>
            <a:ext cx="2600323" cy="11734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A4D5AB-986A-3688-1C3B-ECD80822CE8C}"/>
              </a:ext>
            </a:extLst>
          </p:cNvPr>
          <p:cNvSpPr txBox="1"/>
          <p:nvPr/>
        </p:nvSpPr>
        <p:spPr>
          <a:xfrm>
            <a:off x="4220960" y="3398730"/>
            <a:ext cx="21812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with unusually high bias (red X above)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9EA769-1D6F-1490-56FC-60551FD0A66C}"/>
              </a:ext>
            </a:extLst>
          </p:cNvPr>
          <p:cNvSpPr txBox="1"/>
          <p:nvPr/>
        </p:nvSpPr>
        <p:spPr>
          <a:xfrm>
            <a:off x="4187392" y="3598786"/>
            <a:ext cx="9497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Position in IB space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0E427F-6EF8-C64F-CCBA-03E664F13746}"/>
              </a:ext>
            </a:extLst>
          </p:cNvPr>
          <p:cNvSpPr txBox="1"/>
          <p:nvPr/>
        </p:nvSpPr>
        <p:spPr>
          <a:xfrm>
            <a:off x="5487554" y="3598785"/>
            <a:ext cx="9497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Psychometric function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76859-B6FB-0EA1-EC3E-D12B7205FB20}"/>
              </a:ext>
            </a:extLst>
          </p:cNvPr>
          <p:cNvSpPr txBox="1"/>
          <p:nvPr/>
        </p:nvSpPr>
        <p:spPr>
          <a:xfrm>
            <a:off x="3733561" y="322175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B29A7-F407-2458-79BA-749738014B4C}"/>
              </a:ext>
            </a:extLst>
          </p:cNvPr>
          <p:cNvSpPr txBox="1"/>
          <p:nvPr/>
        </p:nvSpPr>
        <p:spPr>
          <a:xfrm>
            <a:off x="6345958" y="4697558"/>
            <a:ext cx="20550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891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1E548-352D-34AF-985E-904C3AF91656}"/>
              </a:ext>
            </a:extLst>
          </p:cNvPr>
          <p:cNvSpPr txBox="1"/>
          <p:nvPr/>
        </p:nvSpPr>
        <p:spPr>
          <a:xfrm>
            <a:off x="-43544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03548-1BA5-208D-A029-364776CC1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04512"/>
            <a:ext cx="2111995" cy="43249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04520ED-CA52-E06F-F25A-507085D1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84089" y="304511"/>
            <a:ext cx="2111995" cy="432499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490F124-4BBA-AED4-A710-AECB67818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68180" y="304511"/>
            <a:ext cx="2111995" cy="432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347768-0686-1C1F-4B4A-3E480C467639}"/>
              </a:ext>
            </a:extLst>
          </p:cNvPr>
          <p:cNvSpPr txBox="1"/>
          <p:nvPr/>
        </p:nvSpPr>
        <p:spPr>
          <a:xfrm>
            <a:off x="2129659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AA46B-1305-D36A-3595-C347572FC0B5}"/>
              </a:ext>
            </a:extLst>
          </p:cNvPr>
          <p:cNvSpPr txBox="1"/>
          <p:nvPr/>
        </p:nvSpPr>
        <p:spPr>
          <a:xfrm>
            <a:off x="4350515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DC9BA-89CF-959B-53AA-C750A9A0F69F}"/>
              </a:ext>
            </a:extLst>
          </p:cNvPr>
          <p:cNvSpPr txBox="1"/>
          <p:nvPr/>
        </p:nvSpPr>
        <p:spPr>
          <a:xfrm>
            <a:off x="969910" y="56461"/>
            <a:ext cx="5245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</a:t>
            </a:r>
            <a:r>
              <a:rPr lang="el-GR" sz="8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54667-AA59-2C7F-FDFA-29D8C576FC52}"/>
              </a:ext>
            </a:extLst>
          </p:cNvPr>
          <p:cNvSpPr txBox="1"/>
          <p:nvPr/>
        </p:nvSpPr>
        <p:spPr>
          <a:xfrm>
            <a:off x="2911101" y="51011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asymmetry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9AAD7-DB5B-DDD1-E951-B9D1C8D8F972}"/>
              </a:ext>
            </a:extLst>
          </p:cNvPr>
          <p:cNvSpPr txBox="1"/>
          <p:nvPr/>
        </p:nvSpPr>
        <p:spPr>
          <a:xfrm>
            <a:off x="4893087" y="16571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information capacity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686FE9-3774-CC14-3DF8-8D1F5FB1BD49}"/>
              </a:ext>
            </a:extLst>
          </p:cNvPr>
          <p:cNvSpPr txBox="1"/>
          <p:nvPr/>
        </p:nvSpPr>
        <p:spPr>
          <a:xfrm>
            <a:off x="1020406" y="185435"/>
            <a:ext cx="4235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= 1.8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28D2C6-58EE-6A3F-01DD-6BA9C922B24E}"/>
              </a:ext>
            </a:extLst>
          </p:cNvPr>
          <p:cNvSpPr txBox="1"/>
          <p:nvPr/>
        </p:nvSpPr>
        <p:spPr>
          <a:xfrm>
            <a:off x="3113748" y="185435"/>
            <a:ext cx="55976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600" baseline="-25000" dirty="0">
                <a:latin typeface="Arial" panose="020B0604020202020204" pitchFamily="34" charset="0"/>
                <a:cs typeface="Arial" panose="020B0604020202020204" pitchFamily="34" charset="0"/>
              </a:rPr>
              <a:t>jar0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= 0.70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BB10A-AACB-D2C9-814A-40FB3912DB4B}"/>
              </a:ext>
            </a:extLst>
          </p:cNvPr>
          <p:cNvSpPr txBox="1"/>
          <p:nvPr/>
        </p:nvSpPr>
        <p:spPr>
          <a:xfrm>
            <a:off x="5312275" y="185435"/>
            <a:ext cx="5790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I(X;R) = 0.3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A76E593-0C6D-0EDD-F1AD-475D69968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501675"/>
              </p:ext>
            </p:extLst>
          </p:nvPr>
        </p:nvGraphicFramePr>
        <p:xfrm>
          <a:off x="2078218" y="5001000"/>
          <a:ext cx="2457099" cy="12315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19033">
                  <a:extLst>
                    <a:ext uri="{9D8B030D-6E8A-4147-A177-3AD203B41FA5}">
                      <a16:colId xmlns:a16="http://schemas.microsoft.com/office/drawing/2014/main" val="2879711934"/>
                    </a:ext>
                  </a:extLst>
                </a:gridCol>
                <a:gridCol w="819033">
                  <a:extLst>
                    <a:ext uri="{9D8B030D-6E8A-4147-A177-3AD203B41FA5}">
                      <a16:colId xmlns:a16="http://schemas.microsoft.com/office/drawing/2014/main" val="3391855331"/>
                    </a:ext>
                  </a:extLst>
                </a:gridCol>
                <a:gridCol w="819033">
                  <a:extLst>
                    <a:ext uri="{9D8B030D-6E8A-4147-A177-3AD203B41FA5}">
                      <a16:colId xmlns:a16="http://schemas.microsoft.com/office/drawing/2014/main" val="4195199558"/>
                    </a:ext>
                  </a:extLst>
                </a:gridCol>
              </a:tblGrid>
              <a:tr h="252123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Jar 1 → Jar 2 hazard rate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480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/>
                        <a:t>Jar 2 → Jar 1 hazard rate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Marginal probability of Jar 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761882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0.50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38512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0.015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~0.60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36583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0.023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~0.70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30177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0.04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~0.80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7334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0.01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0.086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~0.90</a:t>
                      </a:r>
                      <a:endParaRPr lang="en-US" sz="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6105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F402F4-B268-19DD-36A4-75EA20E7320C}"/>
              </a:ext>
            </a:extLst>
          </p:cNvPr>
          <p:cNvSpPr txBox="1"/>
          <p:nvPr/>
        </p:nvSpPr>
        <p:spPr>
          <a:xfrm>
            <a:off x="1832887" y="4724001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1605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3EAF-45F6-5A7C-5D72-45489C18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BB607F-74BC-193D-1B09-292D8D42F4C9}"/>
              </a:ext>
            </a:extLst>
          </p:cNvPr>
          <p:cNvSpPr txBox="1"/>
          <p:nvPr/>
        </p:nvSpPr>
        <p:spPr>
          <a:xfrm>
            <a:off x="-43544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6248AD-A1D7-2F61-B26E-DBC687721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04512"/>
            <a:ext cx="2111995" cy="43249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A59FD0C-20C0-9DB2-AAC5-749558B99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84089" y="304511"/>
            <a:ext cx="2111995" cy="432499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E06EE32-946C-F4EB-EDEC-0FDE2E3FF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68180" y="304511"/>
            <a:ext cx="2111995" cy="4325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4310FA-2780-7EB7-4C96-E1AB69BCA8A6}"/>
              </a:ext>
            </a:extLst>
          </p:cNvPr>
          <p:cNvSpPr txBox="1"/>
          <p:nvPr/>
        </p:nvSpPr>
        <p:spPr>
          <a:xfrm>
            <a:off x="2129659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99082-465D-8C6C-CB14-4B03B5DD3DEF}"/>
              </a:ext>
            </a:extLst>
          </p:cNvPr>
          <p:cNvSpPr txBox="1"/>
          <p:nvPr/>
        </p:nvSpPr>
        <p:spPr>
          <a:xfrm>
            <a:off x="4350515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4DAD4-7F50-EF26-DBEF-D1314CD0AE01}"/>
              </a:ext>
            </a:extLst>
          </p:cNvPr>
          <p:cNvSpPr txBox="1"/>
          <p:nvPr/>
        </p:nvSpPr>
        <p:spPr>
          <a:xfrm>
            <a:off x="969910" y="56461"/>
            <a:ext cx="5245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</a:t>
            </a:r>
            <a:r>
              <a:rPr lang="el-GR" sz="8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B59F3-0303-677F-C082-9391E974A4D4}"/>
              </a:ext>
            </a:extLst>
          </p:cNvPr>
          <p:cNvSpPr txBox="1"/>
          <p:nvPr/>
        </p:nvSpPr>
        <p:spPr>
          <a:xfrm>
            <a:off x="2911101" y="51011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asymmetry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3146E-9C84-3D9A-24C6-CA0C3FBC25F5}"/>
              </a:ext>
            </a:extLst>
          </p:cNvPr>
          <p:cNvSpPr txBox="1"/>
          <p:nvPr/>
        </p:nvSpPr>
        <p:spPr>
          <a:xfrm>
            <a:off x="4893087" y="16571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Fixed information capacity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0C338-8551-ED58-2094-F63A6954D66D}"/>
              </a:ext>
            </a:extLst>
          </p:cNvPr>
          <p:cNvSpPr txBox="1"/>
          <p:nvPr/>
        </p:nvSpPr>
        <p:spPr>
          <a:xfrm>
            <a:off x="1020406" y="185435"/>
            <a:ext cx="4235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6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= 3.5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7B2EB2-0166-61DF-070E-8DB677A7DBAC}"/>
              </a:ext>
            </a:extLst>
          </p:cNvPr>
          <p:cNvSpPr txBox="1"/>
          <p:nvPr/>
        </p:nvSpPr>
        <p:spPr>
          <a:xfrm>
            <a:off x="3113748" y="185435"/>
            <a:ext cx="55976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600" baseline="-25000" dirty="0">
                <a:latin typeface="Arial" panose="020B0604020202020204" pitchFamily="34" charset="0"/>
                <a:cs typeface="Arial" panose="020B0604020202020204" pitchFamily="34" charset="0"/>
              </a:rPr>
              <a:t>jar0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= 0.70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E7E6E6-73E4-1B8E-CB03-78CE5F0F7DED}"/>
              </a:ext>
            </a:extLst>
          </p:cNvPr>
          <p:cNvSpPr txBox="1"/>
          <p:nvPr/>
        </p:nvSpPr>
        <p:spPr>
          <a:xfrm>
            <a:off x="5312275" y="185435"/>
            <a:ext cx="5790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I(X;R) = 0.4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4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C4A2083-DD03-B895-E6A3-545126DB7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180" y="598955"/>
            <a:ext cx="2600325" cy="2200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719D62-0F6A-4F55-F0E2-55C9D8839A28}"/>
              </a:ext>
            </a:extLst>
          </p:cNvPr>
          <p:cNvSpPr txBox="1"/>
          <p:nvPr/>
        </p:nvSpPr>
        <p:spPr>
          <a:xfrm>
            <a:off x="-43544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EA4D7A8-1302-112C-C24C-D35E98B7B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180" y="3607529"/>
            <a:ext cx="2600325" cy="2200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A9DBAB-97D2-D4A3-9047-F9DFDC7326CD}"/>
              </a:ext>
            </a:extLst>
          </p:cNvPr>
          <p:cNvSpPr txBox="1"/>
          <p:nvPr/>
        </p:nvSpPr>
        <p:spPr>
          <a:xfrm>
            <a:off x="-43544" y="2860300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A339BC6-6514-BD1C-8889-B0FFDB2A7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015048" y="598954"/>
            <a:ext cx="2647950" cy="22002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93EBA20-EDEA-7840-9978-5179D33A1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15048" y="3607528"/>
            <a:ext cx="2647950" cy="2200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7A39B1-E383-ABAD-E5A1-15AE987C2333}"/>
              </a:ext>
            </a:extLst>
          </p:cNvPr>
          <p:cNvSpPr txBox="1"/>
          <p:nvPr/>
        </p:nvSpPr>
        <p:spPr>
          <a:xfrm>
            <a:off x="158171" y="98048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(500 bead draws)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Error from choice sampling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F9059-3B30-7EAA-1BA3-44FF897ABD4A}"/>
              </a:ext>
            </a:extLst>
          </p:cNvPr>
          <p:cNvSpPr txBox="1"/>
          <p:nvPr/>
        </p:nvSpPr>
        <p:spPr>
          <a:xfrm>
            <a:off x="158171" y="3084740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different trial sets (500 bead draws)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1 choice set sample per trial set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Error from choice sampling + trial set sampling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C1EBB-E5BA-9FA1-547D-0220D7B4FB0B}"/>
              </a:ext>
            </a:extLst>
          </p:cNvPr>
          <p:cNvSpPr txBox="1"/>
          <p:nvPr/>
        </p:nvSpPr>
        <p:spPr>
          <a:xfrm>
            <a:off x="2817933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3E8C2-D272-1D40-B079-ADB2AACF5094}"/>
              </a:ext>
            </a:extLst>
          </p:cNvPr>
          <p:cNvSpPr txBox="1"/>
          <p:nvPr/>
        </p:nvSpPr>
        <p:spPr>
          <a:xfrm>
            <a:off x="3158253" y="98048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(600 horse races)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Error from choice sampling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38756-CA95-2596-89C7-9B30FBF17F11}"/>
              </a:ext>
            </a:extLst>
          </p:cNvPr>
          <p:cNvSpPr txBox="1"/>
          <p:nvPr/>
        </p:nvSpPr>
        <p:spPr>
          <a:xfrm>
            <a:off x="3158252" y="3084739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(600 horse races)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Error from choice sampling + trial set sampling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B15B5-2AF4-08FD-0409-B320B4261957}"/>
              </a:ext>
            </a:extLst>
          </p:cNvPr>
          <p:cNvSpPr txBox="1"/>
          <p:nvPr/>
        </p:nvSpPr>
        <p:spPr>
          <a:xfrm>
            <a:off x="2817933" y="285646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16489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4528-AE23-A40A-61D0-159A38B4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CF0E539F-029A-8C5C-2165-392B8746C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918791" y="6150395"/>
            <a:ext cx="2647950" cy="22002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1B27C9-BBFC-B0D4-2AF0-5CB7BF1E3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180" y="551568"/>
            <a:ext cx="2600325" cy="2200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37BFED-CBEA-B767-9DCE-976EE39EC50E}"/>
              </a:ext>
            </a:extLst>
          </p:cNvPr>
          <p:cNvSpPr txBox="1"/>
          <p:nvPr/>
        </p:nvSpPr>
        <p:spPr>
          <a:xfrm>
            <a:off x="-43544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D5CBF-D9D1-9BDC-6F91-7C043DE7CD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179" y="3363873"/>
            <a:ext cx="2600325" cy="2200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88B7D-7938-22CC-6FE1-346E11CA9983}"/>
              </a:ext>
            </a:extLst>
          </p:cNvPr>
          <p:cNvSpPr txBox="1"/>
          <p:nvPr/>
        </p:nvSpPr>
        <p:spPr>
          <a:xfrm>
            <a:off x="-43547" y="274581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0443DBA-BD59-6079-0D70-5DA43E98B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18791" y="551568"/>
            <a:ext cx="2647950" cy="22002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F3D9B31-974A-0538-239B-72A23F55F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918791" y="3363873"/>
            <a:ext cx="2647950" cy="2200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F2213A-4D22-1239-D060-8B990FD3C510}"/>
              </a:ext>
            </a:extLst>
          </p:cNvPr>
          <p:cNvSpPr txBox="1"/>
          <p:nvPr/>
        </p:nvSpPr>
        <p:spPr>
          <a:xfrm>
            <a:off x="158171" y="98048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(500 bead draws)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NSB estimator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347EA-4868-EA23-7E04-FA983CC741E3}"/>
              </a:ext>
            </a:extLst>
          </p:cNvPr>
          <p:cNvSpPr txBox="1"/>
          <p:nvPr/>
        </p:nvSpPr>
        <p:spPr>
          <a:xfrm>
            <a:off x="2817933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B85B9-0A82-10A1-A0EA-47A89DAD5643}"/>
              </a:ext>
            </a:extLst>
          </p:cNvPr>
          <p:cNvSpPr txBox="1"/>
          <p:nvPr/>
        </p:nvSpPr>
        <p:spPr>
          <a:xfrm>
            <a:off x="3019649" y="99459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(600 horse races)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NSB estimator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A4D44-B86F-417F-7E9C-AE50E765DEC5}"/>
              </a:ext>
            </a:extLst>
          </p:cNvPr>
          <p:cNvSpPr txBox="1"/>
          <p:nvPr/>
        </p:nvSpPr>
        <p:spPr>
          <a:xfrm>
            <a:off x="3019649" y="2884317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(600 horse races)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No estimator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61B94-B013-D7CF-2916-BE934270FE02}"/>
              </a:ext>
            </a:extLst>
          </p:cNvPr>
          <p:cNvSpPr txBox="1"/>
          <p:nvPr/>
        </p:nvSpPr>
        <p:spPr>
          <a:xfrm>
            <a:off x="2817933" y="2744406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89261-4E43-863E-26F4-3E94D8A15BB7}"/>
              </a:ext>
            </a:extLst>
          </p:cNvPr>
          <p:cNvSpPr txBox="1"/>
          <p:nvPr/>
        </p:nvSpPr>
        <p:spPr>
          <a:xfrm>
            <a:off x="120714" y="2899769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(500 bead draws)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2000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No estimator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5B95B-F86B-D88D-82B5-B5298C4EE368}"/>
              </a:ext>
            </a:extLst>
          </p:cNvPr>
          <p:cNvSpPr txBox="1"/>
          <p:nvPr/>
        </p:nvSpPr>
        <p:spPr>
          <a:xfrm>
            <a:off x="-43547" y="5548696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B4FA7B5-1783-59ED-EBBF-7AEA01CC3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0714" y="6151299"/>
            <a:ext cx="2600325" cy="22002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03CF84-F6F6-8A3C-46F5-B675BB948369}"/>
              </a:ext>
            </a:extLst>
          </p:cNvPr>
          <p:cNvSpPr txBox="1"/>
          <p:nvPr/>
        </p:nvSpPr>
        <p:spPr>
          <a:xfrm>
            <a:off x="120714" y="5687195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Bead prediction task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large N trial set (10000000 bead draws)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No estimator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1836A-C0A6-FCEC-2762-8AE1452C096B}"/>
              </a:ext>
            </a:extLst>
          </p:cNvPr>
          <p:cNvSpPr txBox="1"/>
          <p:nvPr/>
        </p:nvSpPr>
        <p:spPr>
          <a:xfrm>
            <a:off x="2817933" y="5547538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F8AB4-6F87-6007-3AF3-D9121E9AF958}"/>
              </a:ext>
            </a:extLst>
          </p:cNvPr>
          <p:cNvSpPr txBox="1"/>
          <p:nvPr/>
        </p:nvSpPr>
        <p:spPr>
          <a:xfrm>
            <a:off x="3019649" y="5686037"/>
            <a:ext cx="278648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Horse prediction, intermediate W-S ratio (2.5:1)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Single trial set (10000000 horse races)</a:t>
            </a:r>
          </a:p>
          <a:p>
            <a:pPr algn="ctr"/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20 choice set samples (fully optimal model)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No estimator</a:t>
            </a:r>
          </a:p>
        </p:txBody>
      </p:sp>
    </p:spTree>
    <p:extLst>
      <p:ext uri="{BB962C8B-B14F-4D97-AF65-F5344CB8AC3E}">
        <p14:creationId xmlns:p14="http://schemas.microsoft.com/office/powerpoint/2010/main" val="3527435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B2BF-900D-5522-EDFA-131DC305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0FFC74-5875-38B6-3803-47C33D10795A}"/>
              </a:ext>
            </a:extLst>
          </p:cNvPr>
          <p:cNvSpPr txBox="1"/>
          <p:nvPr/>
        </p:nvSpPr>
        <p:spPr>
          <a:xfrm>
            <a:off x="-43544" y="-72512"/>
            <a:ext cx="201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8A87B2D-FDD2-3845-B0AE-46F76C4B7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314" y="125438"/>
            <a:ext cx="26003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7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2568</TotalTime>
  <Words>741</Words>
  <Application>Microsoft Office PowerPoint</Application>
  <PresentationFormat>Custom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CMU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</dc:creator>
  <cp:lastModifiedBy>Parker, Jacob</cp:lastModifiedBy>
  <cp:revision>30</cp:revision>
  <dcterms:created xsi:type="dcterms:W3CDTF">2025-12-27T01:21:52Z</dcterms:created>
  <dcterms:modified xsi:type="dcterms:W3CDTF">2026-06-10T16:40:37Z</dcterms:modified>
</cp:coreProperties>
</file>