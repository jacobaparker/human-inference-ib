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7"/>
  </p:notesMasterIdLst>
  <p:sldIdLst>
    <p:sldId id="259" r:id="rId2"/>
    <p:sldId id="283" r:id="rId3"/>
    <p:sldId id="284" r:id="rId4"/>
    <p:sldId id="285" r:id="rId5"/>
    <p:sldId id="286" r:id="rId6"/>
  </p:sldIdLst>
  <p:sldSz cx="6480175" cy="8640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02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444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56CE80-EF07-47B1-B112-C9312492025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0CA22C-0728-4651-9CCC-7D335AEF2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74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1pPr>
    <a:lvl2pPr marL="311033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2pPr>
    <a:lvl3pPr marL="622066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3pPr>
    <a:lvl4pPr marL="933099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4pPr>
    <a:lvl5pPr marL="1244133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5pPr>
    <a:lvl6pPr marL="1555166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6pPr>
    <a:lvl7pPr marL="1866199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7pPr>
    <a:lvl8pPr marL="2177232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8pPr>
    <a:lvl9pPr marL="2488265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013" y="1414125"/>
            <a:ext cx="5508149" cy="3008266"/>
          </a:xfrm>
        </p:spPr>
        <p:txBody>
          <a:bodyPr anchor="b"/>
          <a:lstStyle>
            <a:lvl1pPr algn="ctr">
              <a:defRPr sz="42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22" y="4538401"/>
            <a:ext cx="4860131" cy="2086184"/>
          </a:xfrm>
        </p:spPr>
        <p:txBody>
          <a:bodyPr/>
          <a:lstStyle>
            <a:lvl1pPr marL="0" indent="0" algn="ctr">
              <a:buNone/>
              <a:defRPr sz="1701"/>
            </a:lvl1pPr>
            <a:lvl2pPr marL="324018" indent="0" algn="ctr">
              <a:buNone/>
              <a:defRPr sz="1417"/>
            </a:lvl2pPr>
            <a:lvl3pPr marL="648035" indent="0" algn="ctr">
              <a:buNone/>
              <a:defRPr sz="1276"/>
            </a:lvl3pPr>
            <a:lvl4pPr marL="972053" indent="0" algn="ctr">
              <a:buNone/>
              <a:defRPr sz="1134"/>
            </a:lvl4pPr>
            <a:lvl5pPr marL="1296071" indent="0" algn="ctr">
              <a:buNone/>
              <a:defRPr sz="1134"/>
            </a:lvl5pPr>
            <a:lvl6pPr marL="1620088" indent="0" algn="ctr">
              <a:buNone/>
              <a:defRPr sz="1134"/>
            </a:lvl6pPr>
            <a:lvl7pPr marL="1944106" indent="0" algn="ctr">
              <a:buNone/>
              <a:defRPr sz="1134"/>
            </a:lvl7pPr>
            <a:lvl8pPr marL="2268123" indent="0" algn="ctr">
              <a:buNone/>
              <a:defRPr sz="1134"/>
            </a:lvl8pPr>
            <a:lvl9pPr marL="2592141" indent="0" algn="ctr">
              <a:buNone/>
              <a:defRPr sz="113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B43C-15A2-4BCF-AA28-A5466F64AEBA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F95-D487-4054-86E8-98ACC7F57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508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B43C-15A2-4BCF-AA28-A5466F64AEBA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F95-D487-4054-86E8-98ACC7F57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412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37" y="2154193"/>
            <a:ext cx="5589151" cy="3594317"/>
          </a:xfrm>
        </p:spPr>
        <p:txBody>
          <a:bodyPr anchor="b"/>
          <a:lstStyle>
            <a:lvl1pPr>
              <a:defRPr sz="42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137" y="5782513"/>
            <a:ext cx="5589151" cy="1890166"/>
          </a:xfrm>
        </p:spPr>
        <p:txBody>
          <a:bodyPr/>
          <a:lstStyle>
            <a:lvl1pPr marL="0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1pPr>
            <a:lvl2pPr marL="324018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2pPr>
            <a:lvl3pPr marL="648035" indent="0">
              <a:buNone/>
              <a:defRPr sz="1276">
                <a:solidFill>
                  <a:schemeClr val="tx1">
                    <a:tint val="82000"/>
                  </a:schemeClr>
                </a:solidFill>
              </a:defRPr>
            </a:lvl3pPr>
            <a:lvl4pPr marL="972053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4pPr>
            <a:lvl5pPr marL="129607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5pPr>
            <a:lvl6pPr marL="1620088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6pPr>
            <a:lvl7pPr marL="1944106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7pPr>
            <a:lvl8pPr marL="2268123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8pPr>
            <a:lvl9pPr marL="259214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B43C-15A2-4BCF-AA28-A5466F64AEBA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F95-D487-4054-86E8-98ACC7F57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616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512" y="2300203"/>
            <a:ext cx="2754074" cy="5482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0589" y="2300203"/>
            <a:ext cx="2754074" cy="5482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B43C-15A2-4BCF-AA28-A5466F64AEBA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F95-D487-4054-86E8-98ACC7F57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51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460043"/>
            <a:ext cx="5589151" cy="16701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357" y="2118188"/>
            <a:ext cx="2741417" cy="1038091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357" y="3156278"/>
            <a:ext cx="2741417" cy="46424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589" y="2118188"/>
            <a:ext cx="2754918" cy="1038091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0589" y="3156278"/>
            <a:ext cx="2754918" cy="46424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B43C-15A2-4BCF-AA28-A5466F64AEBA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F95-D487-4054-86E8-98ACC7F57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578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B43C-15A2-4BCF-AA28-A5466F64AEBA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F95-D487-4054-86E8-98ACC7F57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59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B43C-15A2-4BCF-AA28-A5466F64AEBA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F95-D487-4054-86E8-98ACC7F57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745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576051"/>
            <a:ext cx="2090025" cy="2016178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918" y="1244112"/>
            <a:ext cx="3280589" cy="6140542"/>
          </a:xfrm>
        </p:spPr>
        <p:txBody>
          <a:bodyPr/>
          <a:lstStyle>
            <a:lvl1pPr>
              <a:defRPr sz="2268"/>
            </a:lvl1pPr>
            <a:lvl2pPr>
              <a:defRPr sz="1984"/>
            </a:lvl2pPr>
            <a:lvl3pPr>
              <a:defRPr sz="1701"/>
            </a:lvl3pPr>
            <a:lvl4pPr>
              <a:defRPr sz="1417"/>
            </a:lvl4pPr>
            <a:lvl5pPr>
              <a:defRPr sz="1417"/>
            </a:lvl5pPr>
            <a:lvl6pPr>
              <a:defRPr sz="1417"/>
            </a:lvl6pPr>
            <a:lvl7pPr>
              <a:defRPr sz="1417"/>
            </a:lvl7pPr>
            <a:lvl8pPr>
              <a:defRPr sz="1417"/>
            </a:lvl8pPr>
            <a:lvl9pPr>
              <a:defRPr sz="141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2592229"/>
            <a:ext cx="2090025" cy="4802425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B43C-15A2-4BCF-AA28-A5466F64AEBA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F95-D487-4054-86E8-98ACC7F57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865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576051"/>
            <a:ext cx="2090025" cy="2016178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54918" y="1244112"/>
            <a:ext cx="3280589" cy="6140542"/>
          </a:xfrm>
        </p:spPr>
        <p:txBody>
          <a:bodyPr anchor="t"/>
          <a:lstStyle>
            <a:lvl1pPr marL="0" indent="0">
              <a:buNone/>
              <a:defRPr sz="2268"/>
            </a:lvl1pPr>
            <a:lvl2pPr marL="324018" indent="0">
              <a:buNone/>
              <a:defRPr sz="1984"/>
            </a:lvl2pPr>
            <a:lvl3pPr marL="648035" indent="0">
              <a:buNone/>
              <a:defRPr sz="1701"/>
            </a:lvl3pPr>
            <a:lvl4pPr marL="972053" indent="0">
              <a:buNone/>
              <a:defRPr sz="1417"/>
            </a:lvl4pPr>
            <a:lvl5pPr marL="1296071" indent="0">
              <a:buNone/>
              <a:defRPr sz="1417"/>
            </a:lvl5pPr>
            <a:lvl6pPr marL="1620088" indent="0">
              <a:buNone/>
              <a:defRPr sz="1417"/>
            </a:lvl6pPr>
            <a:lvl7pPr marL="1944106" indent="0">
              <a:buNone/>
              <a:defRPr sz="1417"/>
            </a:lvl7pPr>
            <a:lvl8pPr marL="2268123" indent="0">
              <a:buNone/>
              <a:defRPr sz="1417"/>
            </a:lvl8pPr>
            <a:lvl9pPr marL="2592141" indent="0">
              <a:buNone/>
              <a:defRPr sz="141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2592229"/>
            <a:ext cx="2090025" cy="4802425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B43C-15A2-4BCF-AA28-A5466F64AEBA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F95-D487-4054-86E8-98ACC7F57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959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B43C-15A2-4BCF-AA28-A5466F64AEBA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F95-D487-4054-86E8-98ACC7F57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592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37375" y="460041"/>
            <a:ext cx="1397288" cy="7322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512" y="460041"/>
            <a:ext cx="4110861" cy="7322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B43C-15A2-4BCF-AA28-A5466F64AEBA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F95-D487-4054-86E8-98ACC7F57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12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512" y="460043"/>
            <a:ext cx="5589151" cy="1670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512" y="2300203"/>
            <a:ext cx="5589151" cy="5482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512" y="8008709"/>
            <a:ext cx="1458039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09B43C-15A2-4BCF-AA28-A5466F64AEBA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46558" y="8008709"/>
            <a:ext cx="2187059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6624" y="8008709"/>
            <a:ext cx="1458039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65FF95-D487-4054-86E8-98ACC7F57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526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48035" rtl="0" eaLnBrk="1" latinLnBrk="0" hangingPunct="1">
        <a:lnSpc>
          <a:spcPct val="90000"/>
        </a:lnSpc>
        <a:spcBef>
          <a:spcPct val="0"/>
        </a:spcBef>
        <a:buNone/>
        <a:defRPr sz="31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09" indent="-162009" algn="l" defTabSz="648035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486026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10044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13406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458079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782097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2106115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43013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754150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1pPr>
      <a:lvl2pPr marL="32401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2pPr>
      <a:lvl3pPr marL="648035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3pPr>
      <a:lvl4pPr marL="97205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29607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62008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1944106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26812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59214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6F56296-994D-9FBE-2CC3-2AF0E6C02B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7" y="387688"/>
            <a:ext cx="2647950" cy="17430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6A7BA4-36FB-43F0-5D6E-1C8CC9648C6A}"/>
              </a:ext>
            </a:extLst>
          </p:cNvPr>
          <p:cNvSpPr txBox="1"/>
          <p:nvPr/>
        </p:nvSpPr>
        <p:spPr>
          <a:xfrm>
            <a:off x="6096" y="-73976"/>
            <a:ext cx="102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36EF5E-7F3E-DB2D-8181-55535E863EC5}"/>
              </a:ext>
            </a:extLst>
          </p:cNvPr>
          <p:cNvSpPr txBox="1"/>
          <p:nvPr/>
        </p:nvSpPr>
        <p:spPr>
          <a:xfrm>
            <a:off x="503632" y="64523"/>
            <a:ext cx="2023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Bead-prediction task</a:t>
            </a:r>
          </a:p>
          <a:p>
            <a:pPr algn="ct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Fully optimal (seven-back) IB bound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DF8A32-15FB-5110-828B-A1ABDB0C3AAA}"/>
              </a:ext>
            </a:extLst>
          </p:cNvPr>
          <p:cNvSpPr txBox="1"/>
          <p:nvPr/>
        </p:nvSpPr>
        <p:spPr>
          <a:xfrm>
            <a:off x="6096" y="2130763"/>
            <a:ext cx="102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41E704-0CE1-343C-A47D-2D1AE34C3362}"/>
              </a:ext>
            </a:extLst>
          </p:cNvPr>
          <p:cNvSpPr txBox="1"/>
          <p:nvPr/>
        </p:nvSpPr>
        <p:spPr>
          <a:xfrm>
            <a:off x="226460" y="2269262"/>
            <a:ext cx="2577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Comparison of </a:t>
            </a:r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 initialization to random initialization for IB algorithm 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(&lt;0 means random is worse)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219E12-BDE5-0D12-CFBA-C9AF1F1BDD95}"/>
              </a:ext>
            </a:extLst>
          </p:cNvPr>
          <p:cNvSpPr txBox="1"/>
          <p:nvPr/>
        </p:nvSpPr>
        <p:spPr>
          <a:xfrm>
            <a:off x="3626594" y="64523"/>
            <a:ext cx="2935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Comparison of </a:t>
            </a:r>
            <a:r>
              <a:rPr lang="en-US" sz="800" b="1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 solution to IB algorithm solution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(0 means no difference)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2D9106-71C1-0188-14B7-FD64A3DDBD8E}"/>
              </a:ext>
            </a:extLst>
          </p:cNvPr>
          <p:cNvSpPr txBox="1"/>
          <p:nvPr/>
        </p:nvSpPr>
        <p:spPr>
          <a:xfrm>
            <a:off x="3524472" y="-73976"/>
            <a:ext cx="102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EF0CF3E-881E-9853-558C-C153A59D8C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7" y="2546261"/>
            <a:ext cx="2600325" cy="18383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E75ACA-D155-63D5-959C-84493D58D72F}"/>
              </a:ext>
            </a:extLst>
          </p:cNvPr>
          <p:cNvSpPr txBox="1"/>
          <p:nvPr/>
        </p:nvSpPr>
        <p:spPr>
          <a:xfrm>
            <a:off x="15620" y="4391253"/>
            <a:ext cx="102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C06A531B-9F3C-6FD8-845F-0EFF53AFC7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6" y="4877913"/>
            <a:ext cx="2647950" cy="15525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07B994D-E4C2-CD95-F369-8FD01438401B}"/>
              </a:ext>
            </a:extLst>
          </p:cNvPr>
          <p:cNvSpPr txBox="1"/>
          <p:nvPr/>
        </p:nvSpPr>
        <p:spPr>
          <a:xfrm>
            <a:off x="226459" y="4556477"/>
            <a:ext cx="2577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Check of p(r=</a:t>
            </a:r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y|y</a:t>
            </a: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) property that must be true for </a:t>
            </a:r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 solution to hold 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(traces must be 0)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5B14D9B0-E2FA-A788-4B80-7CADF8DA6F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676218" y="567264"/>
            <a:ext cx="2647950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894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3F7CA-AB4B-99EF-8818-61AB6A3D6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C11CC3D-11E3-2031-591E-665E1D66A3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7157" y="387688"/>
            <a:ext cx="2647950" cy="17430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2D5AB4-13AB-BB25-707F-746C68664A37}"/>
              </a:ext>
            </a:extLst>
          </p:cNvPr>
          <p:cNvSpPr txBox="1"/>
          <p:nvPr/>
        </p:nvSpPr>
        <p:spPr>
          <a:xfrm>
            <a:off x="6096" y="-73976"/>
            <a:ext cx="102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1AD56B-639B-1A84-8653-FEA3F2921BCF}"/>
              </a:ext>
            </a:extLst>
          </p:cNvPr>
          <p:cNvSpPr txBox="1"/>
          <p:nvPr/>
        </p:nvSpPr>
        <p:spPr>
          <a:xfrm>
            <a:off x="503632" y="64523"/>
            <a:ext cx="2023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Bead-prediction task</a:t>
            </a:r>
          </a:p>
          <a:p>
            <a:pPr algn="ct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Heuristic (one-back) IB bound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1036D6-E411-4559-9093-E67AE9C57F4A}"/>
              </a:ext>
            </a:extLst>
          </p:cNvPr>
          <p:cNvSpPr txBox="1"/>
          <p:nvPr/>
        </p:nvSpPr>
        <p:spPr>
          <a:xfrm>
            <a:off x="6096" y="2130763"/>
            <a:ext cx="102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CFC705-D94B-7EAE-2490-00BCA40A1C65}"/>
              </a:ext>
            </a:extLst>
          </p:cNvPr>
          <p:cNvSpPr txBox="1"/>
          <p:nvPr/>
        </p:nvSpPr>
        <p:spPr>
          <a:xfrm>
            <a:off x="226460" y="2269262"/>
            <a:ext cx="2577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Comparison of </a:t>
            </a:r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 initialization to random initialization for IB algorithm 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(&lt;0 means random is worse)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40B04E-8571-DE5A-540D-C7A899579861}"/>
              </a:ext>
            </a:extLst>
          </p:cNvPr>
          <p:cNvSpPr txBox="1"/>
          <p:nvPr/>
        </p:nvSpPr>
        <p:spPr>
          <a:xfrm>
            <a:off x="3626594" y="64523"/>
            <a:ext cx="2935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Comparison of </a:t>
            </a:r>
            <a:r>
              <a:rPr lang="en-US" sz="800" b="1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 solution to IB algorithm solution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(0 means no difference)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DD5F0C-A333-7239-1FF5-A02317232A0E}"/>
              </a:ext>
            </a:extLst>
          </p:cNvPr>
          <p:cNvSpPr txBox="1"/>
          <p:nvPr/>
        </p:nvSpPr>
        <p:spPr>
          <a:xfrm>
            <a:off x="3524472" y="-73976"/>
            <a:ext cx="102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7621CEA-7A98-12AF-3E98-E66F1CEAF0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7157" y="2546261"/>
            <a:ext cx="2600325" cy="18383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20B695-B27B-CD6C-1A4D-FD4879F7AFE5}"/>
              </a:ext>
            </a:extLst>
          </p:cNvPr>
          <p:cNvSpPr txBox="1"/>
          <p:nvPr/>
        </p:nvSpPr>
        <p:spPr>
          <a:xfrm>
            <a:off x="15620" y="4391253"/>
            <a:ext cx="102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110ADD1B-7550-634C-B524-3C4542EA2F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156" y="4877913"/>
            <a:ext cx="2647950" cy="15525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A4092A-2D24-B679-2233-0ABAA5E0D8CE}"/>
              </a:ext>
            </a:extLst>
          </p:cNvPr>
          <p:cNvSpPr txBox="1"/>
          <p:nvPr/>
        </p:nvSpPr>
        <p:spPr>
          <a:xfrm>
            <a:off x="226459" y="4556477"/>
            <a:ext cx="2577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Check of p(r=</a:t>
            </a:r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y|y</a:t>
            </a: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) property that must be true for </a:t>
            </a:r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 solution to hold 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(traces must be 0)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9BA8DC93-2B0B-FD3A-C689-46EE6637DB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680980" y="567264"/>
            <a:ext cx="2638425" cy="401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555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29717-9DAA-56E7-82EE-9E7271E8C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1787EB3-AD5F-0FED-DC3B-A995D7B38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7157" y="387688"/>
            <a:ext cx="2647950" cy="17430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5A88E7-649B-1D6F-43D8-ABB9FFABB09A}"/>
              </a:ext>
            </a:extLst>
          </p:cNvPr>
          <p:cNvSpPr txBox="1"/>
          <p:nvPr/>
        </p:nvSpPr>
        <p:spPr>
          <a:xfrm>
            <a:off x="6096" y="-73976"/>
            <a:ext cx="102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04C25C-256E-29F0-20FB-9CD88A2202E8}"/>
              </a:ext>
            </a:extLst>
          </p:cNvPr>
          <p:cNvSpPr txBox="1"/>
          <p:nvPr/>
        </p:nvSpPr>
        <p:spPr>
          <a:xfrm>
            <a:off x="503632" y="64523"/>
            <a:ext cx="2023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Horse-prediction, intermediate W-S ratio</a:t>
            </a:r>
          </a:p>
          <a:p>
            <a:pPr algn="ct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Fully-optimal IB bound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5DF7E7-3AC8-0D14-50AF-2F549413AA6F}"/>
              </a:ext>
            </a:extLst>
          </p:cNvPr>
          <p:cNvSpPr txBox="1"/>
          <p:nvPr/>
        </p:nvSpPr>
        <p:spPr>
          <a:xfrm>
            <a:off x="6096" y="2130763"/>
            <a:ext cx="102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0E7319-491C-66BF-BDD0-880714F35DAA}"/>
              </a:ext>
            </a:extLst>
          </p:cNvPr>
          <p:cNvSpPr txBox="1"/>
          <p:nvPr/>
        </p:nvSpPr>
        <p:spPr>
          <a:xfrm>
            <a:off x="226460" y="2269262"/>
            <a:ext cx="2577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Comparison of </a:t>
            </a:r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 initialization to random initialization for IB algorithm 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(&lt;0 means random is worse)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B0A260-1597-87B6-DE85-52DA1D16D665}"/>
              </a:ext>
            </a:extLst>
          </p:cNvPr>
          <p:cNvSpPr txBox="1"/>
          <p:nvPr/>
        </p:nvSpPr>
        <p:spPr>
          <a:xfrm>
            <a:off x="3626594" y="64523"/>
            <a:ext cx="2935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Comparison of </a:t>
            </a:r>
            <a:r>
              <a:rPr lang="en-US" sz="800" b="1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 solution to IB algorithm solution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(0 means no difference)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A50A6D-40A1-2AF8-4015-208A2D6DB863}"/>
              </a:ext>
            </a:extLst>
          </p:cNvPr>
          <p:cNvSpPr txBox="1"/>
          <p:nvPr/>
        </p:nvSpPr>
        <p:spPr>
          <a:xfrm>
            <a:off x="3524472" y="-73976"/>
            <a:ext cx="102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076524-59DA-8500-FE12-A901169960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7157" y="2578740"/>
            <a:ext cx="2600325" cy="17733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F9ADAA-3E11-2A5A-3E14-BBF88BD43FB1}"/>
              </a:ext>
            </a:extLst>
          </p:cNvPr>
          <p:cNvSpPr txBox="1"/>
          <p:nvPr/>
        </p:nvSpPr>
        <p:spPr>
          <a:xfrm>
            <a:off x="15620" y="4391253"/>
            <a:ext cx="102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27E2503F-2C22-3894-A520-3DFA658F50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156" y="4877913"/>
            <a:ext cx="2647950" cy="15525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0A39E86-986E-C366-811F-E8ED80AF3925}"/>
              </a:ext>
            </a:extLst>
          </p:cNvPr>
          <p:cNvSpPr txBox="1"/>
          <p:nvPr/>
        </p:nvSpPr>
        <p:spPr>
          <a:xfrm>
            <a:off x="226459" y="4556477"/>
            <a:ext cx="2577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Check of p(r=</a:t>
            </a:r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y|y</a:t>
            </a: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) property that must be true for </a:t>
            </a:r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 solution to hold 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(traces must be 0)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3CEA41E6-79FA-E115-06BF-9DFD26B1E7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680980" y="574493"/>
            <a:ext cx="2638424" cy="4005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983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B44F2-BFCB-CAF7-BA36-EC3EA78A2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45B79756-0E06-8945-CFFE-144438A412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7157" y="387688"/>
            <a:ext cx="2647950" cy="17430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D7C8D3-6742-3DD5-A7EF-07AB67FFB354}"/>
              </a:ext>
            </a:extLst>
          </p:cNvPr>
          <p:cNvSpPr txBox="1"/>
          <p:nvPr/>
        </p:nvSpPr>
        <p:spPr>
          <a:xfrm>
            <a:off x="6096" y="-73976"/>
            <a:ext cx="102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DEA868-A6EB-B69B-B8C5-498FC23E8614}"/>
              </a:ext>
            </a:extLst>
          </p:cNvPr>
          <p:cNvSpPr txBox="1"/>
          <p:nvPr/>
        </p:nvSpPr>
        <p:spPr>
          <a:xfrm>
            <a:off x="503632" y="64523"/>
            <a:ext cx="2023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Horse-prediction, intermediate W-S ratio</a:t>
            </a:r>
          </a:p>
          <a:p>
            <a:pPr algn="ct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Heuristic (equal-weights) IB bound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F281BF-DA79-0D7C-4C77-81F9605EB088}"/>
              </a:ext>
            </a:extLst>
          </p:cNvPr>
          <p:cNvSpPr txBox="1"/>
          <p:nvPr/>
        </p:nvSpPr>
        <p:spPr>
          <a:xfrm>
            <a:off x="6096" y="2130763"/>
            <a:ext cx="102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BA2956-267D-DDE8-473E-1371D4168979}"/>
              </a:ext>
            </a:extLst>
          </p:cNvPr>
          <p:cNvSpPr txBox="1"/>
          <p:nvPr/>
        </p:nvSpPr>
        <p:spPr>
          <a:xfrm>
            <a:off x="226460" y="2269262"/>
            <a:ext cx="2577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Comparison of </a:t>
            </a:r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 initialization to random initialization for IB algorithm 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(&lt;0 means random is worse)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FDF58B-767F-8426-98A8-7F5E5AA0B7B5}"/>
              </a:ext>
            </a:extLst>
          </p:cNvPr>
          <p:cNvSpPr txBox="1"/>
          <p:nvPr/>
        </p:nvSpPr>
        <p:spPr>
          <a:xfrm>
            <a:off x="3626594" y="64523"/>
            <a:ext cx="2935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Comparison of </a:t>
            </a:r>
            <a:r>
              <a:rPr lang="en-US" sz="800" b="1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 solution to IB algorithm solution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(0 means no difference)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85403C-6258-2973-42B8-F581B8DB5F25}"/>
              </a:ext>
            </a:extLst>
          </p:cNvPr>
          <p:cNvSpPr txBox="1"/>
          <p:nvPr/>
        </p:nvSpPr>
        <p:spPr>
          <a:xfrm>
            <a:off x="3524472" y="-73976"/>
            <a:ext cx="102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CDAB757-CC96-1072-B55F-86BFBA1472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5534" y="2578740"/>
            <a:ext cx="2563570" cy="17733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70DDF3-391F-55EE-15E7-370429D4FB9F}"/>
              </a:ext>
            </a:extLst>
          </p:cNvPr>
          <p:cNvSpPr txBox="1"/>
          <p:nvPr/>
        </p:nvSpPr>
        <p:spPr>
          <a:xfrm>
            <a:off x="15620" y="4391253"/>
            <a:ext cx="102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7ECEFC33-F2D5-25B5-2D22-2674E7581A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156" y="4877913"/>
            <a:ext cx="2647950" cy="15525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90B2ACE-264B-BD9B-6247-80D5EF0E9548}"/>
              </a:ext>
            </a:extLst>
          </p:cNvPr>
          <p:cNvSpPr txBox="1"/>
          <p:nvPr/>
        </p:nvSpPr>
        <p:spPr>
          <a:xfrm>
            <a:off x="226459" y="4556477"/>
            <a:ext cx="2577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Check of p(r=</a:t>
            </a:r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y|y</a:t>
            </a: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) property that must be true for </a:t>
            </a:r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 solution to hold 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(traces must be 0)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C28CA682-2C65-2D5A-8D79-B11ED9CD96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680980" y="574494"/>
            <a:ext cx="2638424" cy="400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099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93BA9-F8A4-2169-459A-CAF1A942C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F5A7618-F07B-64F1-DC22-D239E477EC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7157" y="387688"/>
            <a:ext cx="2647950" cy="17430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649305-614E-608E-31AF-E9465167E8CF}"/>
              </a:ext>
            </a:extLst>
          </p:cNvPr>
          <p:cNvSpPr txBox="1"/>
          <p:nvPr/>
        </p:nvSpPr>
        <p:spPr>
          <a:xfrm>
            <a:off x="6096" y="-73976"/>
            <a:ext cx="102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638FC2-DD6F-B721-7C87-B3A7E76A387D}"/>
              </a:ext>
            </a:extLst>
          </p:cNvPr>
          <p:cNvSpPr txBox="1"/>
          <p:nvPr/>
        </p:nvSpPr>
        <p:spPr>
          <a:xfrm>
            <a:off x="503632" y="64523"/>
            <a:ext cx="2023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Three-jar bead-prediction task</a:t>
            </a:r>
          </a:p>
          <a:p>
            <a:pPr algn="ct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Fully-optimal (seven-back) IB bound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727193-25A2-456B-AD3C-226304BD26B1}"/>
              </a:ext>
            </a:extLst>
          </p:cNvPr>
          <p:cNvSpPr txBox="1"/>
          <p:nvPr/>
        </p:nvSpPr>
        <p:spPr>
          <a:xfrm>
            <a:off x="6096" y="2130763"/>
            <a:ext cx="102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D95702-45F5-E21D-3D14-BA93C3B852E1}"/>
              </a:ext>
            </a:extLst>
          </p:cNvPr>
          <p:cNvSpPr txBox="1"/>
          <p:nvPr/>
        </p:nvSpPr>
        <p:spPr>
          <a:xfrm>
            <a:off x="226460" y="2269262"/>
            <a:ext cx="2577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Comparison of </a:t>
            </a:r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 initialization to random initialization for IB algorithm 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(&lt;0 means random is worse)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7DC752-1867-9D53-C72D-6D9DA488E94F}"/>
              </a:ext>
            </a:extLst>
          </p:cNvPr>
          <p:cNvSpPr txBox="1"/>
          <p:nvPr/>
        </p:nvSpPr>
        <p:spPr>
          <a:xfrm>
            <a:off x="3626594" y="64523"/>
            <a:ext cx="2935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Comparison of </a:t>
            </a:r>
            <a:r>
              <a:rPr lang="en-US" sz="800" b="1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 solution to IB algorithm solution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(0 means no difference)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D68E39-BEEA-FE81-7EA5-E4C20DFA300A}"/>
              </a:ext>
            </a:extLst>
          </p:cNvPr>
          <p:cNvSpPr txBox="1"/>
          <p:nvPr/>
        </p:nvSpPr>
        <p:spPr>
          <a:xfrm>
            <a:off x="3524472" y="-73976"/>
            <a:ext cx="102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BA41093-EA42-8AEE-BA52-7AFB61C84E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5534" y="2618216"/>
            <a:ext cx="2563570" cy="16944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4B1DF1-AB17-C16F-2375-FF5381999DA9}"/>
              </a:ext>
            </a:extLst>
          </p:cNvPr>
          <p:cNvSpPr txBox="1"/>
          <p:nvPr/>
        </p:nvSpPr>
        <p:spPr>
          <a:xfrm>
            <a:off x="15620" y="4391253"/>
            <a:ext cx="102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2088350-C221-48D5-03D9-1183EA7F2D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156" y="4877913"/>
            <a:ext cx="2647950" cy="15525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B24853D-F55B-BE2D-0F4C-BDB92F530494}"/>
              </a:ext>
            </a:extLst>
          </p:cNvPr>
          <p:cNvSpPr txBox="1"/>
          <p:nvPr/>
        </p:nvSpPr>
        <p:spPr>
          <a:xfrm>
            <a:off x="226459" y="4556477"/>
            <a:ext cx="2577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Check of p(r=</a:t>
            </a:r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y|y</a:t>
            </a: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) property that must be true for </a:t>
            </a:r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 solution to hold 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(traces must be 0)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3D3C139A-7223-3364-8F1E-7F5B3E7DE4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685725" y="574493"/>
            <a:ext cx="2628934" cy="40050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73921F7-5DF5-5A89-0157-9CFB7BC6402C}"/>
                  </a:ext>
                </a:extLst>
              </p:cNvPr>
              <p:cNvSpPr txBox="1"/>
              <p:nvPr/>
            </p:nvSpPr>
            <p:spPr>
              <a:xfrm>
                <a:off x="3789699" y="5742097"/>
                <a:ext cx="804772" cy="3255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0.98   0.01   0.01</m:t>
                              </m:r>
                            </m:e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0.01   0.98   0.01</m:t>
                              </m:r>
                            </m:e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0.01   0.01   0.98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73921F7-5DF5-5A89-0157-9CFB7BC64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699" y="5742097"/>
                <a:ext cx="804772" cy="325538"/>
              </a:xfrm>
              <a:prstGeom prst="rect">
                <a:avLst/>
              </a:prstGeom>
              <a:blipFill>
                <a:blip r:embed="rId6"/>
                <a:stretch>
                  <a:fillRect t="-1887" b="-9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4B0491-7527-885D-2961-F52DFBB9626E}"/>
                  </a:ext>
                </a:extLst>
              </p:cNvPr>
              <p:cNvSpPr txBox="1"/>
              <p:nvPr/>
            </p:nvSpPr>
            <p:spPr>
              <a:xfrm>
                <a:off x="5488074" y="5739596"/>
                <a:ext cx="804772" cy="3280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0.70   0.15   0.15</m:t>
                              </m:r>
                            </m:e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0.15   0.70   0.15</m:t>
                              </m:r>
                            </m:e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0.15   0.15   0.70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4B0491-7527-885D-2961-F52DFBB96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8074" y="5739596"/>
                <a:ext cx="804772" cy="328039"/>
              </a:xfrm>
              <a:prstGeom prst="rect">
                <a:avLst/>
              </a:prstGeom>
              <a:blipFill>
                <a:blip r:embed="rId7"/>
                <a:stretch>
                  <a:fillRect t="-3774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44F0260-BE5C-A6BF-96D1-8FD742B19AC4}"/>
              </a:ext>
            </a:extLst>
          </p:cNvPr>
          <p:cNvSpPr txBox="1"/>
          <p:nvPr/>
        </p:nvSpPr>
        <p:spPr>
          <a:xfrm>
            <a:off x="3524472" y="4877913"/>
            <a:ext cx="102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FA03D2-2FAF-8ABC-E377-C86EF26A4BA6}"/>
              </a:ext>
            </a:extLst>
          </p:cNvPr>
          <p:cNvSpPr txBox="1"/>
          <p:nvPr/>
        </p:nvSpPr>
        <p:spPr>
          <a:xfrm>
            <a:off x="3747887" y="5125179"/>
            <a:ext cx="25774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Hidden Markov model parameters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EA85C9-7D03-2660-DCB0-2CA21381D3F2}"/>
              </a:ext>
            </a:extLst>
          </p:cNvPr>
          <p:cNvSpPr txBox="1"/>
          <p:nvPr/>
        </p:nvSpPr>
        <p:spPr>
          <a:xfrm>
            <a:off x="3151563" y="5326293"/>
            <a:ext cx="2081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Transition matrix</a:t>
            </a:r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, H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P(jar trial </a:t>
            </a: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+1 | jar trial </a:t>
            </a: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CD3370-F552-1119-A93A-885A5213A786}"/>
              </a:ext>
            </a:extLst>
          </p:cNvPr>
          <p:cNvSpPr txBox="1"/>
          <p:nvPr/>
        </p:nvSpPr>
        <p:spPr>
          <a:xfrm>
            <a:off x="4849938" y="5326293"/>
            <a:ext cx="2081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Emission matrix</a:t>
            </a:r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, E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P(bead trial </a:t>
            </a: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t 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| jar trial </a:t>
            </a: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38393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2839</TotalTime>
  <Words>387</Words>
  <Application>Microsoft Office PowerPoint</Application>
  <PresentationFormat>Custom</PresentationFormat>
  <Paragraphs>58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</dc:creator>
  <cp:lastModifiedBy>Parker, Jacob</cp:lastModifiedBy>
  <cp:revision>37</cp:revision>
  <dcterms:created xsi:type="dcterms:W3CDTF">2025-12-27T01:21:52Z</dcterms:created>
  <dcterms:modified xsi:type="dcterms:W3CDTF">2026-04-14T21:25:34Z</dcterms:modified>
</cp:coreProperties>
</file>